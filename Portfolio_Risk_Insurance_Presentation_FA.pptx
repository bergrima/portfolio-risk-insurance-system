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3749e6bab74844" /><Relationship Type="http://schemas.openxmlformats.org/officeDocument/2006/relationships/extended-properties" Target="/docProps/app.xml" Id="R9716d1b23a924817" /><Relationship Type="http://schemas.openxmlformats.org/officeDocument/2006/relationships/officeDocument" Target="/ppt/presentation.xml" Id="R645578cd3d53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b2ec68ffa24b98"/>
  </p:sldMasterIdLst>
  <p:notesMasterIdLst>
    <p:notesMasterId xmlns:r="http://schemas.openxmlformats.org/officeDocument/2006/relationships" r:id="R235d342da41741c6"/>
  </p:notesMasterIdLst>
  <p:sldIdLst>
    <p:sldId xmlns:r="http://schemas.openxmlformats.org/officeDocument/2006/relationships" id="256" r:id="Rae0e274b35344183"/>
    <p:sldId xmlns:r="http://schemas.openxmlformats.org/officeDocument/2006/relationships" id="257" r:id="R43e96588ac0245f5"/>
    <p:sldId xmlns:r="http://schemas.openxmlformats.org/officeDocument/2006/relationships" id="258" r:id="Rf4612e464aa54459"/>
    <p:sldId xmlns:r="http://schemas.openxmlformats.org/officeDocument/2006/relationships" id="259" r:id="R4c0b70d14d0a4397"/>
    <p:sldId xmlns:r="http://schemas.openxmlformats.org/officeDocument/2006/relationships" id="260" r:id="Rcb93ab7d7f914f79"/>
    <p:sldId xmlns:r="http://schemas.openxmlformats.org/officeDocument/2006/relationships" id="261" r:id="Rbc5f95d3c86b4092"/>
    <p:sldId xmlns:r="http://schemas.openxmlformats.org/officeDocument/2006/relationships" id="262" r:id="R3b5d9d1f94e146e5"/>
    <p:sldId xmlns:r="http://schemas.openxmlformats.org/officeDocument/2006/relationships" id="263" r:id="R7f4a6255dade4d3d"/>
    <p:sldId xmlns:r="http://schemas.openxmlformats.org/officeDocument/2006/relationships" id="264" r:id="Rb766a1e43def4242"/>
    <p:sldId xmlns:r="http://schemas.openxmlformats.org/officeDocument/2006/relationships" id="265" r:id="Ra7a4366242bc4c72"/>
    <p:sldId xmlns:r="http://schemas.openxmlformats.org/officeDocument/2006/relationships" id="266" r:id="R09923d25b4514baa"/>
    <p:sldId xmlns:r="http://schemas.openxmlformats.org/officeDocument/2006/relationships" id="267" r:id="R12a233bddabe496f"/>
    <p:sldId xmlns:r="http://schemas.openxmlformats.org/officeDocument/2006/relationships" id="268" r:id="R0705f1f08e2746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7f195be6d6420e" /><Relationship Type="http://schemas.openxmlformats.org/officeDocument/2006/relationships/slideMaster" Target="/ppt/slideMasters/slideMaster1.xml" Id="R72b2ec68ffa24b98" /><Relationship Type="http://schemas.openxmlformats.org/officeDocument/2006/relationships/notesMaster" Target="/ppt/notesMasters/notesMaster1.xml" Id="R235d342da41741c6" /><Relationship Type="http://schemas.openxmlformats.org/officeDocument/2006/relationships/presProps" Target="/ppt/presProps.xml" Id="R9b6443affba64902" /><Relationship Type="http://schemas.openxmlformats.org/officeDocument/2006/relationships/tableStyles" Target="/ppt/tableStyles.xml" Id="R1c6047b0d1c44f94" /><Relationship Type="http://schemas.openxmlformats.org/officeDocument/2006/relationships/slide" Target="/ppt/slides/slide1.xml" Id="Rae0e274b35344183" /><Relationship Type="http://schemas.openxmlformats.org/officeDocument/2006/relationships/slide" Target="/ppt/slides/slide2.xml" Id="R43e96588ac0245f5" /><Relationship Type="http://schemas.openxmlformats.org/officeDocument/2006/relationships/slide" Target="/ppt/slides/slide3.xml" Id="Rf4612e464aa54459" /><Relationship Type="http://schemas.openxmlformats.org/officeDocument/2006/relationships/slide" Target="/ppt/slides/slide4.xml" Id="R4c0b70d14d0a4397" /><Relationship Type="http://schemas.openxmlformats.org/officeDocument/2006/relationships/slide" Target="/ppt/slides/slide5.xml" Id="Rcb93ab7d7f914f79" /><Relationship Type="http://schemas.openxmlformats.org/officeDocument/2006/relationships/slide" Target="/ppt/slides/slide6.xml" Id="Rbc5f95d3c86b4092" /><Relationship Type="http://schemas.openxmlformats.org/officeDocument/2006/relationships/slide" Target="/ppt/slides/slide7.xml" Id="R3b5d9d1f94e146e5" /><Relationship Type="http://schemas.openxmlformats.org/officeDocument/2006/relationships/slide" Target="/ppt/slides/slide8.xml" Id="R7f4a6255dade4d3d" /><Relationship Type="http://schemas.openxmlformats.org/officeDocument/2006/relationships/slide" Target="/ppt/slides/slide9.xml" Id="Rb766a1e43def4242" /><Relationship Type="http://schemas.openxmlformats.org/officeDocument/2006/relationships/slide" Target="/ppt/slides/slide10.xml" Id="Ra7a4366242bc4c72" /><Relationship Type="http://schemas.openxmlformats.org/officeDocument/2006/relationships/slide" Target="/ppt/slides/slide11.xml" Id="R09923d25b4514baa" /><Relationship Type="http://schemas.openxmlformats.org/officeDocument/2006/relationships/slide" Target="/ppt/slides/slide12.xml" Id="R12a233bddabe496f" /><Relationship Type="http://schemas.openxmlformats.org/officeDocument/2006/relationships/slide" Target="/ppt/slides/slide13.xml" Id="R0705f1f08e2746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877754396548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72d6022d554a93" /><Relationship Type="http://schemas.openxmlformats.org/officeDocument/2006/relationships/notesMaster" Target="/ppt/notesMasters/notesMaster1.xml" Id="Rebeb0777deff40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189a8a7f014c39" /><Relationship Type="http://schemas.openxmlformats.org/officeDocument/2006/relationships/notesMaster" Target="/ppt/notesMasters/notesMaster1.xml" Id="R034fe807b11048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f05b20be8485c" /><Relationship Type="http://schemas.openxmlformats.org/officeDocument/2006/relationships/notesMaster" Target="/ppt/notesMasters/notesMaster1.xml" Id="R1fb97eeebd1c4d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b159d35d674ea0" /><Relationship Type="http://schemas.openxmlformats.org/officeDocument/2006/relationships/notesMaster" Target="/ppt/notesMasters/notesMaster1.xml" Id="Rbe178d25e73043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1ec09897624c17" /><Relationship Type="http://schemas.openxmlformats.org/officeDocument/2006/relationships/notesMaster" Target="/ppt/notesMasters/notesMaster1.xml" Id="Rcb9fa607a8dd4a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af46af36c045bf" /><Relationship Type="http://schemas.openxmlformats.org/officeDocument/2006/relationships/notesMaster" Target="/ppt/notesMasters/notesMaster1.xml" Id="Reb4dcd0447b443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5ea0d9783a4380" /><Relationship Type="http://schemas.openxmlformats.org/officeDocument/2006/relationships/notesMaster" Target="/ppt/notesMasters/notesMaster1.xml" Id="R82b7df0d672944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54845307154707" /><Relationship Type="http://schemas.openxmlformats.org/officeDocument/2006/relationships/notesMaster" Target="/ppt/notesMasters/notesMaster1.xml" Id="R6f3a469ffda248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408131f6994604" /><Relationship Type="http://schemas.openxmlformats.org/officeDocument/2006/relationships/notesMaster" Target="/ppt/notesMasters/notesMaster1.xml" Id="R48c5f850b1ec47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dc2e8055ce43df" /><Relationship Type="http://schemas.openxmlformats.org/officeDocument/2006/relationships/notesMaster" Target="/ppt/notesMasters/notesMaster1.xml" Id="Rde7872b513e941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2a67c361c34b20" /><Relationship Type="http://schemas.openxmlformats.org/officeDocument/2006/relationships/notesMaster" Target="/ppt/notesMasters/notesMaster1.xml" Id="R58fb0d52ee1047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c7b25df40c44a2" /><Relationship Type="http://schemas.openxmlformats.org/officeDocument/2006/relationships/notesMaster" Target="/ppt/notesMasters/notesMaster1.xml" Id="R886527bbbc234e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719f1248964138" /><Relationship Type="http://schemas.openxmlformats.org/officeDocument/2006/relationships/notesMaster" Target="/ppt/notesMasters/notesMaster1.xml" Id="Raf221a1ec69247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ارائه را با این گزاره باز کنید: مدل پیش‌بینی‌گر نیست؛ یک موتور مدیریت ریسک و بازآرایی پورتفو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System\README.md</a:t>
            </a:r>
          </a:p>
          <a:p xmlns:a="http://schemas.openxmlformats.org/drawingml/2006/main">
            <a:r>
              <a:t>- C:\Users\Admin\Documents\ChatGPT\Portfolio Risk Insurance System\configs\portfolios.toml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System\src\portfolio_insurance\backtest.py</a:t>
            </a:r>
          </a:p>
          <a:p xmlns:a="http://schemas.openxmlformats.org/drawingml/2006/main">
            <a:r>
              <a:t>- C:\Users\Admin\Documents\ChatGPT\Portfolio Risk Insurance System\README.md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System\src\portfolio_insurance\backtest.py</a:t>
            </a:r>
          </a:p>
          <a:p xmlns:a="http://schemas.openxmlformats.org/drawingml/2006/main">
            <a:r>
              <a:t>- C:\Users\Admin\Documents\ChatGPT\Portfolio Risk Insurance System\tests\test_backtest.py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وزن‌های کوتاه‌مدت و نقره از توضیح محصول آمده‌اند؛ کانفیگ فعلی فقط میان‌مدت و بلندمدت بدون نقره را دارد.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System\configs\portfolios.toml</a:t>
            </a:r>
          </a:p>
          <a:p xmlns:a="http://schemas.openxmlformats.org/drawingml/2006/main">
            <a:r>
              <a:t>- C:\Users\Admin\Documents\ChatGPT\Portfolio Risk Insurance System\data\snapshots\full_history\market_data.csv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System\src\portfolio_insurance\backtest.py</a:t>
            </a:r>
          </a:p>
          <a:p xmlns:a="http://schemas.openxmlformats.org/drawingml/2006/main">
            <a:r>
              <a:t>- C:\Users\Admin\Documents\ChatGPT\Portfolio Risk Insurance System\src\portfolio_insurance\vppi.py</a:t>
            </a:r>
          </a:p>
          <a:p xmlns:a="http://schemas.openxmlformats.org/drawingml/2006/main">
            <a:r>
              <a:t>- C:\Users\Admin\Documents\ChatGPT\Portfolio Risk Insurance System\src\portfolio_insurance\scenarios.py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عدد ۵٪ حذف شده است. آستانه‌های نمایش‌داده‌شده برابر انحراف معیار بازده‌های ۱۰ بار معاملاتی‌اند و سیگنال معاملاتی محسوب نمی‌شوند.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System\runs\manager_surface\asset_risk_summary.csv</a:t>
            </a:r>
          </a:p>
          <a:p xmlns:a="http://schemas.openxmlformats.org/drawingml/2006/main">
            <a:r>
              <a:t>- C:\Users\Admin\Documents\ChatGPT\Portfolio Risk Insurance System\src\portfolio_insurance\regime.py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بازده درآمد ثابت از اولین تا آخرین NAV تعدیل‌شده موجود محاسبه شده است: بازده کل ۲۰۰.۷٪ و سالانه‌شده ۳۱.۸٪.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System\data\snapshots\full_history\market_data.csv</a:t>
            </a:r>
          </a:p>
          <a:p xmlns:a="http://schemas.openxmlformats.org/drawingml/2006/main">
            <a:r>
              <a:t>- C:\Users\Admin\Documents\ChatGPT\Portfolio Risk Insurance System\runs\manager_surface\presentation_data.json</a:t>
            </a:r>
          </a:p>
          <a:p xmlns:a="http://schemas.openxmlformats.org/drawingml/2006/main">
            <a:r>
              <a:t>- C:\Users\Admin\Documents\ChatGPT\Portfolio Risk Insurance System\src\portfolio_insurance\scenarios.py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هر ستون میانگین ۱۲ ترکیب m و floor در آن تناوب است؛ بنابراین برای انتخاب عملیاتی مناسب است، نه ادعای بهینه‌بودن یک سیاست منفرد.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System\runs\manager_surface\frequency_comparison.csv</a:t>
            </a:r>
          </a:p>
          <a:p xmlns:a="http://schemas.openxmlformats.org/drawingml/2006/main">
            <a:r>
              <a:t>- C:\Users\Admin\Documents\ChatGPT\Portfolio Risk Insurance System\runs\manager_surface\medium_term\surface.csv</a:t>
            </a:r>
          </a:p>
          <a:p xmlns:a="http://schemas.openxmlformats.org/drawingml/2006/main">
            <a:r>
              <a:t>- C:\Users\Admin\Documents\ChatGPT\Portfolio Risk Insurance System\runs\manager_surface\long_term\surface.csv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احتمال زیان واقعی برای ۱۲ ترکیب پارامتر در تناوب دوهفته‌ای و باند انحراف ۵٪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System\runs\manager_surface\medium_term\surface.csv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نتیجه شبیه‌سازی است، نه تضمین آینده. سیاست منتخب فقط نماینده مرکز ناحیه پایدار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System\runs\manager_surface\policy_comparison.csv</a:t>
            </a:r>
          </a:p>
          <a:p xmlns:a="http://schemas.openxmlformats.org/drawingml/2006/main">
            <a:r>
              <a:t>- C:\Users\Admin\Documents\ChatGPT\Portfolio Risk Insurance System\runs\manager_surface\medium_term\path_metrics.csv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System\runs\manager_surface\policy_comparison.csv</a:t>
            </a:r>
          </a:p>
          <a:p xmlns:a="http://schemas.openxmlformats.org/drawingml/2006/main">
            <a:r>
              <a:t>- C:\Users\Admin\Documents\ChatGPT\Portfolio Risk Insurance System\configs\portfolios.toml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System\src\portfolio_insurance\backtest.py</a:t>
            </a:r>
          </a:p>
          <a:p xmlns:a="http://schemas.openxmlformats.org/drawingml/2006/main">
            <a:r>
              <a:t>- C:\Users\Admin\Documents\ChatGPT\Portfolio Risk Insurance System\src\portfolio_insurance\regime.py</a:t>
            </a:r>
          </a:p>
          <a:p xmlns:a="http://schemas.openxmlformats.org/drawingml/2006/main">
            <a:r>
              <a:t>- C:\Users\Admin\Documents\ChatGPT\Portfolio Risk Insurance System\runs\manager_surface\presentation_data.json</a:t>
            </a:r>
          </a:p>
          <a:p xmlns:a="http://schemas.openxmlformats.org/drawingml/2006/main">
            <a:r>
              <a:t>- C:\Users\Admin\Documents\ChatGPT\Portfolio Risk Insurance System\configs\portfolios.toml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پایان ارائه با تصمیم باشد: معماری دفاعی قابل قبول است؛ ادعای پوشش تورم و نسخه بلندمدت دارای نقره هنوز شواهد کافی ندارند.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C:\Users\Admin\Documents\ChatGPT\Portfolio Risk Insurance System\runs\manager_surface\policy_comparison.csv</a:t>
            </a:r>
          </a:p>
          <a:p xmlns:a="http://schemas.openxmlformats.org/drawingml/2006/main">
            <a:r>
              <a:t>- C:\Users\Admin\Documents\ChatGPT\Portfolio Risk Insurance System\runs\manager_surface\frequency_comparison.csv</a:t>
            </a:r>
          </a:p>
          <a:p xmlns:a="http://schemas.openxmlformats.org/drawingml/2006/main">
            <a:r>
              <a:t>- C:\Users\Admin\Documents\ChatGPT\Portfolio Risk Insurance System\runs\manager_surface\medium_term\surface.csv</a:t>
            </a:r>
          </a:p>
          <a:p xmlns:a="http://schemas.openxmlformats.org/drawingml/2006/main">
            <a:r>
              <a:t>- C:\Users\Admin\Documents\ChatGPT\Portfolio Risk Insurance System\runs\manager_surface\long_term\surface.csv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0e19eda0546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2b6935937c40b9" /><Relationship Type="http://schemas.openxmlformats.org/officeDocument/2006/relationships/slideLayout" Target="/ppt/slideLayouts/slideLayout1.xml" Id="R19fbb49851da49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fbb49851da49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0f423539644ad" /><Relationship Type="http://schemas.openxmlformats.org/officeDocument/2006/relationships/notesSlide" Target="/ppt/notesSlides/notesSlide1.xml" Id="R0967f3715b6241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2801fb8f84c85" /><Relationship Type="http://schemas.openxmlformats.org/officeDocument/2006/relationships/notesSlide" Target="/ppt/notesSlides/notesSlide2.xml" Id="Rb5b8e9fc677e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4ec4df0024bee" /><Relationship Type="http://schemas.openxmlformats.org/officeDocument/2006/relationships/notesSlide" Target="/ppt/notesSlides/notesSlide3.xml" Id="R4e7a969942464c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4f4599c0c49e6" /><Relationship Type="http://schemas.openxmlformats.org/officeDocument/2006/relationships/notesSlide" Target="/ppt/notesSlides/notesSlide4.xml" Id="R19844b82a05d48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1c290554b402a" /><Relationship Type="http://schemas.openxmlformats.org/officeDocument/2006/relationships/notesSlide" Target="/ppt/notesSlides/notesSlide5.xml" Id="Rec9a745c0d274e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cf77da8bc433a" /><Relationship Type="http://schemas.openxmlformats.org/officeDocument/2006/relationships/notesSlide" Target="/ppt/notesSlides/notesSlide6.xml" Id="R716b660517284b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018b8975843eb" /><Relationship Type="http://schemas.openxmlformats.org/officeDocument/2006/relationships/notesSlide" Target="/ppt/notesSlides/notesSlide7.xml" Id="R1987c57ab9894d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61dbebdba4118" /><Relationship Type="http://schemas.openxmlformats.org/officeDocument/2006/relationships/chart" Target="/ppt/slides/charts/chart1.xml" Id="Rc8f29853033e42a4" /><Relationship Type="http://schemas.openxmlformats.org/officeDocument/2006/relationships/chart" Target="/ppt/slides/charts/chart2.xml" Id="R58f0a03d2fbe4662" /><Relationship Type="http://schemas.openxmlformats.org/officeDocument/2006/relationships/notesSlide" Target="/ppt/notesSlides/notesSlide8.xml" Id="R9c373111fb824b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7b4b32efa4d75" /><Relationship Type="http://schemas.openxmlformats.org/officeDocument/2006/relationships/notesSlide" Target="/ppt/notesSlides/notesSlide9.xml" Id="R6378cb3839ae41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7dd8f78644ecc" /><Relationship Type="http://schemas.openxmlformats.org/officeDocument/2006/relationships/notesSlide" Target="/ppt/notesSlides/notesSlide10.xml" Id="R105c35f532424b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4ade10ef744be" /><Relationship Type="http://schemas.openxmlformats.org/officeDocument/2006/relationships/notesSlide" Target="/ppt/notesSlides/notesSlide11.xml" Id="R9fdd859c524c40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ed7f1027a40b6" /><Relationship Type="http://schemas.openxmlformats.org/officeDocument/2006/relationships/notesSlide" Target="/ppt/notesSlides/notesSlide12.xml" Id="R1346a7634b6d40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70aa9f9d142c5" /><Relationship Type="http://schemas.openxmlformats.org/officeDocument/2006/relationships/notesSlide" Target="/ppt/notesSlides/notesSlide13.xml" Id="R71d22bfdc1304d2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میان‌مدت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هفتگی</c:v>
              </c:pt>
              <c:pt idx="1">
                <c:v>دوهفته‌ای</c:v>
              </c:pt>
              <c:pt idx="2">
                <c:v>ماهانه</c:v>
              </c:pt>
            </c:strLit>
          </c:cat>
          <c:val>
            <c:numLit>
              <c:formatCode>General</c:formatCode>
              <c:ptCount val="3"/>
              <c:pt idx="0">
                <c:v>1.6869208688931074</c:v>
              </c:pt>
              <c:pt idx="1">
                <c:v>1.5128078918433694</c:v>
              </c:pt>
              <c:pt idx="2">
                <c:v>1.3203693376480496</c:v>
              </c:pt>
            </c:numLit>
          </c:val>
        </c:ser>
        <c:ser>
          <c:idx val="1"/>
          <c:order val="1"/>
          <c:tx>
            <c:v>بلندمدت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3"/>
              <c:pt idx="0">
                <c:v>هفتگی</c:v>
              </c:pt>
              <c:pt idx="1">
                <c:v>دوهفته‌ای</c:v>
              </c:pt>
              <c:pt idx="2">
                <c:v>ماهانه</c:v>
              </c:pt>
            </c:strLit>
          </c:cat>
          <c:val>
            <c:numLit>
              <c:formatCode>General</c:formatCode>
              <c:ptCount val="3"/>
              <c:pt idx="0">
                <c:v>1.7728874003416344</c:v>
              </c:pt>
              <c:pt idx="1">
                <c:v>1.7612495408494697</c:v>
              </c:pt>
              <c:pt idx="2">
                <c:v>1.6807850769580754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میان‌مدت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هفتگی</c:v>
              </c:pt>
              <c:pt idx="1">
                <c:v>دوهفته‌ای</c:v>
              </c:pt>
              <c:pt idx="2">
                <c:v>ماهانه</c:v>
              </c:pt>
            </c:strLit>
          </c:cat>
          <c:val>
            <c:numLit>
              <c:formatCode>General</c:formatCode>
              <c:ptCount val="3"/>
              <c:pt idx="0">
                <c:v>0.9601611299095044</c:v>
              </c:pt>
              <c:pt idx="1">
                <c:v>0.8303012696654556</c:v>
              </c:pt>
              <c:pt idx="2">
                <c:v>0.6500786725658506</c:v>
              </c:pt>
            </c:numLit>
          </c:val>
        </c:ser>
        <c:ser>
          <c:idx val="1"/>
          <c:order val="1"/>
          <c:tx>
            <c:v>بلندمدت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3"/>
              <c:pt idx="0">
                <c:v>هفتگی</c:v>
              </c:pt>
              <c:pt idx="1">
                <c:v>دوهفته‌ای</c:v>
              </c:pt>
              <c:pt idx="2">
                <c:v>ماهانه</c:v>
              </c:pt>
            </c:strLit>
          </c:cat>
          <c:val>
            <c:numLit>
              <c:formatCode>General</c:formatCode>
              <c:ptCount val="3"/>
              <c:pt idx="0">
                <c:v>1.7171939236400338</c:v>
              </c:pt>
              <c:pt idx="1">
                <c:v>1.4726253029910514</c:v>
              </c:pt>
              <c:pt idx="2">
                <c:v>1.2114713032966764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87240-E52D-4F20-A8F6-DADD487A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FD211-F3E1-44EF-B846-FBC496D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57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DFCAB-8108-4F84-A3ED-EC2CEAB4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667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83FC8-FCB5-4EC1-91C9-DF7EAB21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‏ارائه مدیریتی | ۲۵ اوت ۲۰۲۶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1D7C7-D482-4C0B-AB17-C71C0848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57375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5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‏سیستم بیمه ریسک پورتفو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15738-EB9F-4C97-AED3-EDBB07EA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0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B8F"/>
                </a:solidFill>
                <a:latin typeface="Arial"/>
                <a:ea typeface="Arial"/>
                <a:cs typeface="Arial"/>
              </a:rPr>
              <a:t>‏تخصیص دارایی  •  VPPI  •  ریبالانس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4CA13-B8C6-4892-92BE-B8B524F6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553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CCF1B-E95F-46BA-AC55-DE9BAEB4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757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9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‏خروجی اصلی: انتخاب یک سپر دفاعی پایدار، بدون اتکا به پیش‌بینی بازار</a:t>
            </a:r>
          </a:p>
        </p:txBody>
      </p:sp>
    </p:spTree>
    <p:extLst>
      <p:ext uri="{BB962C8B-B14F-4D97-AF65-F5344CB8AC3E}">
        <p14:creationId xmlns:p14="http://schemas.microsoft.com/office/powerpoint/2010/main" val="1417027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655B9-16E4-4B88-927C-78D3A10A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‏تعریف مسئله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44223-3648-4703-AA36-BA590D2D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‏این مدل مدیر پورتفو است، نه پیش‌گو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F41FD-1D23-4B41-AF0E-B9E56B47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A9AEA-92B7-4C36-8B02-759CF0E9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43E60-452F-423B-BE1D-30BEB1F6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85CD6-1152-4034-9B51-5B6FAB60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38750" cy="409575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01F71-B1DB-4C0C-9E40-E99F46B9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238750" cy="409575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2CA9F-C405-4C49-B143-E1799491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2857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775A7-8120-46FC-A652-F4264E61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‏کاری که انجام می‌دهد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BDAF5-5FFF-4E05-87CD-46C78635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09750"/>
            <a:ext cx="319087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24C2F-B53D-4330-8229-FE30F23C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0975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‏کاری که فعلاً انجام نمی‌دهد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20F2A-6355-4F6B-8153-8EADF219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AE975-EDD8-4790-A27D-28B2205D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‏وزن‌های راهبردی را نقطه شروع می‌گیرد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B31F9-37D8-4ED7-8412-79586629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3EA55-1BC8-48D8-B7B6-6AE680FF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‏ریسک طلا و سهام را با VPPI محدود می‌کند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19A1F-F950-4B02-9E09-BCB5231B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F396E-E398-4544-83F7-7FCFAFAB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‏فقط در بازبینی‌های برنامه‌ریزی‌شده اقدام می‌کند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182E5-FAFE-47CB-B4D1-E08CA856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6ED5D-EB9D-401B-9EC1-1C46645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‏انحراف وزن‌ها را با ریبالانس اصلاح می‌کند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6BF5D-5583-4D0A-B956-0D1F773D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7603D-D00D-497F-AC21-2366B64B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‏قیمت آینده را پیش‌بینی نمی‌کند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61566-4602-4CA2-A91D-E67F0C09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CA88E-154B-4A4E-A3C1-08FA68A9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‏از افت ۵٪ یک قانون دلخواه نمی‌سازد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A23B1-EC4C-4682-9592-3F33D1C0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36945-C812-4345-AC45-F56D397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‏در شروع، درصدهای منتخب کاربر را تغییر نمی‌دهد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514C4-9A72-4ACD-9535-C5B56AEF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679E4-3D7C-4707-8316-1965ED90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‏تضمین تورم را بدون آزمون امکان‌پذیری اعلام نمی‌کند</a:t>
            </a:r>
          </a:p>
        </p:txBody>
      </p:sp>
    </p:spTree>
    <p:extLst>
      <p:ext uri="{BB962C8B-B14F-4D97-AF65-F5344CB8AC3E}">
        <p14:creationId xmlns:p14="http://schemas.microsoft.com/office/powerpoint/2010/main" val="1547311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60373-6AAE-4F09-B5A5-2ADCB377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‏معماری تصمیم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4FB82-1CD0-4C37-8E5B-3E285430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‏مدل نسخه اول فقط سه مکانیزم دارد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1524B-31FE-49CE-B4C2-E313B777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097E5-DE70-411E-9F4D-8F827F8C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FC56B-7831-4395-BC47-027EFEF6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02C3B-AD71-4F89-B448-34F10CAD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857250" cy="4191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278EA-2C09-4AD6-A06F-7D6A5216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857250" cy="4191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F3251-1845-48B2-8568-21CD2474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2667000" cy="28575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7480E-054B-4052-961C-48037815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86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625BB-8BF6-46F9-98F3-C7EDE5CB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86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F105E-ABF0-49E9-8B51-752A010E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‏تخصیص وزن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19C0A-AB11-4F7D-BFF2-CFCC95CB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‏وزن‌های هدف از سبد منتخب کاربر و بودجه ریسک می‌آیند.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43482-979D-4339-B778-FA370435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2667000" cy="28575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43BC2-20BF-478D-975E-EE78968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300DF-77E8-4976-8478-B28D1D83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‏۲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EB3E1-D467-4707-962A-84473706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‏سپر VPPI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03337-3DCA-489B-B4F5-FDAC697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6712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‏طلا و سهام در هر sleeve با m ثابت و کف مشخص بیمه می‌شوند.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4AB13-BD81-41FA-A439-78E7AB1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2667000" cy="28575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4A6BA-4047-4763-A43C-6532AF4F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FDA04-EB08-4E5A-AF59-BEEE1B07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2ABEF-EC8B-4178-BDAB-F806AAD7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480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‏ریبالانس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5B444-BD2C-4C34-9B0A-41722F83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6712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‏وقتی وزن واقعی از هدف بیش از باند مجاز فاصله گرفت، اصلاح انجام می‌شود.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D179E-1FAB-43D9-80F1-D21EAF2A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8637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‏ترتیب اجرا: وزن‌های فعلی حفظ می‌شوند؛ اولین بازبینی دوهفته‌ای پس از ۱۰ بار معاملاتی است.</a:t>
            </a:r>
          </a:p>
        </p:txBody>
      </p:sp>
    </p:spTree>
    <p:extLst>
      <p:ext uri="{BB962C8B-B14F-4D97-AF65-F5344CB8AC3E}">
        <p14:creationId xmlns:p14="http://schemas.microsoft.com/office/powerpoint/2010/main" val="48687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5FDA7-1BB5-484F-8295-FF0705C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‏سبدهای محصول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21DE6-8B43-4C17-B672-79D4E6DC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01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‏سه سبد، سه سطح تعهد؛ فقط دو سبد هنوز وارد موتور ریسک شده‌اند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9BB6F-6E05-49E0-89B7-D71FB4DF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D85E8-5012-46E4-BDB1-844D0C5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1D4D3-1518-40F7-87FF-3C7B4424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D5D6A-A222-4F1E-89A1-BFAD5C8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394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EED61-6DEE-4B92-ACB3-6FD4BF0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71625"/>
            <a:ext cx="123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7BCA3-F43F-4980-8B50-ABF0098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743075"/>
            <a:ext cx="104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‏کوتاه‌مدت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AB621-E93D-4FE9-9B61-15C15D3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‏۱۰۰٪ درآمد ثابت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0EC99-63F3-49DB-847F-5D465954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24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‏حفظ نقدشوندگی و بازده روزشمار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7C3BB-C193-4E53-BFC1-848E9B67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F766E"/>
                </a:solidFill>
                <a:latin typeface="Arial"/>
                <a:ea typeface="Arial"/>
                <a:cs typeface="Arial"/>
              </a:rPr>
              <a:t>‏خارج از VPPI؛ منطقی چون دارایی ریسکی ندارد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7730B-D801-4189-8396-B0150DF9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394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3F9DC-AC62-4C1E-BBAC-664AB0F6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05125"/>
            <a:ext cx="123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D808C-12B2-4266-B642-003543D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76575"/>
            <a:ext cx="104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‏میان‌مدت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3614F-8743-4A25-96DD-13EA9B0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‏۳۰٪ درآمد ثابت | ۴۰٪ طلا | ۳۰٪ سهام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81D61-41A3-4DBC-A1C4-30798C71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‏پوشش تورم + عدم زیان در ۶ ماه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F583B-7507-419C-B02E-AF6BA462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‏پیاده‌سازی و شبیه‌سازی شده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11FEB-242A-4FE5-A6AB-9870DD8A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394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03DF3-D343-4BB4-AFB9-4AB4F5F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38625"/>
            <a:ext cx="123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8892E-4B53-4CBC-9BCF-4AAEF9CE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10075"/>
            <a:ext cx="104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‏بلندمدت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BD14B-E556-4DEB-9627-9531E938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‏نمونه فعلی: ۱۰٪ درآمد ثابت | ۵۰٪ طلا | ۴۰٪ سهام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114ED-B5E3-4430-8F81-4EF72484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91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‏بالاتر از تورم؛ نسخه هدف باید نقره هم داشته باشد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66CB1-5C02-4180-80C3-ABAD3D51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‏ناقص: داده و وزن نقره هنوز تعریف نشده</a:t>
            </a:r>
          </a:p>
        </p:txBody>
      </p:sp>
    </p:spTree>
    <p:extLst>
      <p:ext uri="{BB962C8B-B14F-4D97-AF65-F5344CB8AC3E}">
        <p14:creationId xmlns:p14="http://schemas.microsoft.com/office/powerpoint/2010/main" val="2008273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2B9A6-2777-47E9-B2C2-97F65733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‏منطق مکانیزم دفاعی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3B9A3-41CC-48D3-9E00-BE9C5D50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‏VPPI در این پروژه یک سپر قاعده‌محور است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10DEC-3922-4F43-92F6-760FE00A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4090A-E2C9-4E8E-9DE6-DC131389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F0A4A-4597-433C-BCC8-E5C7DA4C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42540-C037-464C-BE03-E016CD05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714875" cy="4048125"/>
          </a:xfrm>
          <a:prstGeom xmlns:a="http://schemas.openxmlformats.org/drawingml/2006/main" prst="roundRect">
            <a:avLst>
              <a:gd name="adj" fmla="val 517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64228-B59F-4D69-8257-CC5A69B0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‏منطق هر sleeve ریسکی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9287E-8B8C-4603-A5DC-894AD049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‏Cₜ = max(Vₜ − Floorₜ, 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34B8B-2669-4E51-AFD7-33E3C0E5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23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33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‏Risk budget = min(m × Cₜ, سقف sleeve)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5D653-FC82-4A53-BEAD-B3FCDF36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‏بخش خارج‌شده از دارایی ریسکی به درآمد ثابت منتقل می‌شود.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08C8D-5BAB-409C-B3EF-AEDF2C8E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715000" cy="4048125"/>
          </a:xfrm>
          <a:prstGeom xmlns:a="http://schemas.openxmlformats.org/drawingml/2006/main" prst="roundRect">
            <a:avLst>
              <a:gd name="adj" fmla="val 5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5D712-44DA-469E-B611-2E9B6C1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571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998A-CA01-4CD0-A1FA-1F8B266C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‏پارامترهای نسخه پایه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8D7E9-5095-4951-8311-70E1B60F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486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27AAC-186B-412E-9B07-F79AD834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‏m در هر اجرای شبیه‌سازی ثابت است؛ جابه‌جایی m مرحله بعد است.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8317C-058F-4B97-9A1F-2BFF0063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4E390-49CF-4A4A-B622-3A62581F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241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‏کف‌های آزمون: ۷۰٪، ۸۰٪ و ۹۰٪ ارزش اولیه sleeve.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11CBB-9E7B-42F6-BD1B-94768731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3313A-981D-4A9E-A8AE-FA6FA64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671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‏تناوب‌های آزمون: هفتگی، دوهفته‌ای و ماهانه.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C93F2-F9B3-45BE-907F-3682469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29A0B-927D-4103-AB5A-41A83CD6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1002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‏VPPI روی sleeveهای طلا و سهام اعمال می‌شود.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8409B-AA04-409E-98A6-675693E9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57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A32BE-1048-45A8-A254-AB502062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529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‏دلار فعلاً معیار سنجش عملکرد واقعی است، نه کف اجرایی مستقل.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C6329-1E93-4D53-8126-555ADC59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95875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796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‏این تفکیک مهم است: آزمون دلاری انجام شده، اما «VPPI مستقل دلاری» هنوز ساخته نشده است.</a:t>
            </a:r>
          </a:p>
        </p:txBody>
      </p:sp>
    </p:spTree>
    <p:extLst>
      <p:ext uri="{BB962C8B-B14F-4D97-AF65-F5344CB8AC3E}">
        <p14:creationId xmlns:p14="http://schemas.microsoft.com/office/powerpoint/2010/main" val="475726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26C135-FA3C-4F93-9CB8-017AA2D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‏تحلیل تاریخی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1F7F0-4848-427A-B16D-EFB5B7B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58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‏Drawdown و ZigZag «توزیع ریسک» می‌دهند، نه عدد جادویی ۵٪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256F6-8530-4C34-AA38-E4608B32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6E8BB-8481-4919-8B10-683E41BD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907A8-9314-4E47-95E3-10C371FE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3735A-ECAE-4F91-81F0-5F8EC6D0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38300"/>
            <a:ext cx="1952625" cy="32861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EFB06-DC31-447C-8B7F-E4DD475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‏طلا / ریال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4BCE4-BF91-42CA-A3A0-6698D259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‏۵۲٫۴٪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2F517-14E1-431D-8C50-F09E866F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‏بیشترین افت تاریخی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123A8-BCE2-411A-BA78-95706F3A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‏۷٫۷٪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D9793-1E4E-4087-966B-04BA0D0E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1000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‏σ بازده دوهفته‌ای؛ آستانه تشخیصی ZigZag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A9D65-756A-4AD1-AFDB-56F59665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57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‏۹۸ موج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895F6-75DE-4314-B9A1-2632B8E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38300"/>
            <a:ext cx="1952625" cy="32861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9807C-CA90-45AF-9A93-3E5D550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288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‏سهام / ریال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BFBBF-0AC8-4779-A23A-EC133DB8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193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‏۳۱٫۸٪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753C0-626A-4AC5-B927-DEA19DC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57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‏بیشترین افت تاریخی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E0F3C-56D1-4B5E-BE05-49C20995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813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‏۶٫۸٪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6D5FC-1F6E-4534-B67B-E3B96FFC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‏σ بازده دوهفته‌ای؛ آستانه تشخیصی ZigZag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65C4A-05BA-4336-9B85-4A4FABCE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57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‏۱۰۶ موج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38111-CEA2-44DF-8D86-22BF8044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1952625" cy="32861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3151A-C40E-43C9-94F5-25995826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‏طلا / دلار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D51DC-CA2D-4657-B52C-B80FEE96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‏۴۴٫۲٪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72730-6BDA-4ACC-9014-8AC8C2D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‏بیشترین افت تاریخی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5E7F5-3FFB-4068-ADDE-264DFFDB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‏۵٫۳٪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C592B-493C-49E2-8BB2-AA066D0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1000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‏σ بازده دوهفته‌ای؛ آستانه تشخیصی ZigZag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2CA74-AA75-4D17-9675-A954176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57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‏۱۳۲ موج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20C4F-20BA-446A-B6DE-3D38E05F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38300"/>
            <a:ext cx="1952625" cy="32861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00356E-D112-4A56-98A5-D30088F3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288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‏سهام / دلار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C05FF7-0E97-4176-86C8-1EFA24CF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193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‏۶۲٫۸٪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5FA48-555C-4CBC-8964-4BCF1D41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57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‏بیشترین افت تاریخی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2128C-9771-4A38-B60B-FCA457D8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813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‏۸٫۷٪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489F7-7851-4545-A520-E1E506A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‏σ بازده دوهفته‌ای؛ آستانه تشخیصی ZigZag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331383-F510-44C1-99C9-7F84438C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‏۹۴ موج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F77BA1-1A8C-43A3-9078-5531E22C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8300"/>
            <a:ext cx="1952625" cy="32861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9AF7AF-BAC1-44C8-BD4F-7F0399D6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‏ریسکی سبد / دلار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F72CE9-3FF4-4B1E-AE42-B09C0904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19350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‏۴۱٫۲٪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5A1E92-CBC0-4FF8-A68B-FF94D1D8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‏بیشترین افت تاریخی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5A0D14-3E7C-4930-A64B-2F116BAD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‏۵٫۸٪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F15253-BEA4-4C46-AB3F-4A5BC364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1000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‏σ بازده دوهفته‌ای؛ آستانه تشخیصی ZigZag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A5E687-0B36-4A6A-AF15-3ADB8325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‏۱۱۸ موج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C1864F-0B8E-4BD2-AC10-BA65870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9700"/>
            <a:ext cx="105727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80FFBE-8578-4123-AE6D-AF0ED81E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054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14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‏نتیجه: آستانه ZigZag اینجا از نوسان تجربی هر سری آمده و فقط برای توصیف موج‌هاست؛ تبدیل آن به قانون ورود/خروج به بودجه ریسک و آزمون خارج‌نمونه نیاز دارد.</a:t>
            </a:r>
          </a:p>
        </p:txBody>
      </p:sp>
    </p:spTree>
    <p:extLst>
      <p:ext uri="{BB962C8B-B14F-4D97-AF65-F5344CB8AC3E}">
        <p14:creationId xmlns:p14="http://schemas.microsoft.com/office/powerpoint/2010/main" val="284178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BACD28-3CA7-493B-8D89-356B30B8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‏داده و روش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BDC4F-1459-4D4C-ABA5-35EC6D35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91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‏شبیه‌سازی از کل تاریخ موجود هر دارایی استفاده می‌کند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8D0DD-1DF5-4D1F-8230-9A4B43CA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8CB0E-4993-4AC2-AEB5-50654F23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FCBC5-C7F2-4619-A590-7FFDC6D9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935BC-8EFF-4DB6-8606-9EEE1FAB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573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‏سهام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98299-3C02-4745-8954-F41EDF7D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2125"/>
            <a:ext cx="804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8B2E2-2811-46A8-8669-2B751DA3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431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‏۲۰۱۵/۱۱/۰۱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197F6-252F-4560-94F0-1E145543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431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‏۲۰۲۶/۰۸/۲۴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7DF8D-2432-4425-A575-73339FEE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241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‏طلا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4DBE6-5ABA-4C81-B260-4FFF6A7E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66198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97050-AD96-4FD1-8DCE-88E28010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‏۲۰۱۷/۰۶/۱۰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F8170-FEFB-4995-BB58-E1A4AAA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‏۲۰۲۶/۰۸/۲۴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88892-FD2B-4A95-A20C-CB74AEA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908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‏دلار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0A9A8-D6F6-45FE-8029-0F0F08D5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552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52B86-2603-4F24-A675-2FAE6521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766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‏۲۰۱۸/۱۱/۲۸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25387-F53A-43AC-8502-D13AE938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766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‏۲۰۲۶/۰۸/۲۴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C53F4-CCC2-451E-9DE1-377592B3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576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‏درآمد ثابت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376D4-EBD9-465F-A4A1-B6A3F44C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62375"/>
            <a:ext cx="3476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0C288-9657-403F-8317-A7558AA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‏۲۰۲۲/۰۸/۲۹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5FF3C-DD4C-48B7-9C3A-58E3DD0D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433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‏۲۰۲۶/۰۸/۲۴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4645B-2CFB-4B9D-B9DA-F4157EB9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14325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A6DBE-0355-4457-A2E0-1FEFAA58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D7320-9E82-4F59-8498-4798E469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244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‏۲۰۰ مسیر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6F7C1-B3CA-425D-91DC-5127C74F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483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‏افق ۶ ماهه سبد میان‌مدت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DEA94-5F9E-4C14-979D-996A00D2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62500"/>
            <a:ext cx="314325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E1429-64E8-4F14-92FF-FDE68A5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87E47-21D5-4136-921B-F7D8A635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244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‏۱۰۰ مسیر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2EBD1-53FF-4765-807F-E965C91A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483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‏افق ۱۲ ماهه نمونه بلندمدت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1202C7-465D-43DA-B8B2-4D99D9F6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314325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A9341-46EA-4B7F-8894-53E8D41A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62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7F7B3-332B-4C2E-8230-9D497BD7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244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7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‏۳۱٫۸٪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A4C066-A0A9-41FF-87D5-E5C7C0C0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‏بازده سالانه‌شده تاریخی درآمد ثابت؛ روزشمار بر پایه NAV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38E77-2BD8-4F50-AAD0-1648B536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‏روش: bootstrap مشترکِ بلوک‌های ۱۰ بار معاملاتی؛ وابستگی هم‌زمان طلا، سهام، درآمد ثابت و دلار حفظ می‌شود.</a:t>
            </a:r>
          </a:p>
        </p:txBody>
      </p:sp>
    </p:spTree>
    <p:extLst>
      <p:ext uri="{BB962C8B-B14F-4D97-AF65-F5344CB8AC3E}">
        <p14:creationId xmlns:p14="http://schemas.microsoft.com/office/powerpoint/2010/main" val="731429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CFD80-30EC-4063-BF93-85E739A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‏تناوب بازبینی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47F1A-AF25-4F1E-A485-A8A4BEEB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08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‏دوهفته‌ای، نقطه شروع عملیاتی مناسبی است؛ نه یک جواب قطعی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499B2-7544-4EC0-9B87-6FB79B16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120F4-5CDA-43BF-87A4-79CD1E8A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06E8-A3A2-45CB-A202-F9A68B84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A611-BC03-4436-BF6E-560273E3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191125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6E30D-A879-4842-B2B5-41793FDD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71625"/>
            <a:ext cx="52197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4F602-EDB9-4A4B-9D5B-F2A5D2FC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‏Sharpe مقاوم؛ میانگین صدک ۵٪ روی کل گرید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0" y="2190750"/>
          <a:ext xmlns:a="http://schemas.openxmlformats.org/drawingml/2006/main" cx="44767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f29853033e42a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DE1E2-A4C8-4820-879C-343A42C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‏گردش معاملات؛ میانگین میانه روی کل گرید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047750" y="2190750"/>
          <a:ext xmlns:a="http://schemas.openxmlformats.org/drawingml/2006/main" cx="44767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f0a03d2fbe4662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7B09B-9C39-424D-A62C-D2C3994A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0F64B-C894-43B6-8853-C428BA34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4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‏دوهفته‌ای تقریباً کیفیت هفتگی را حفظ می‌کند، اما گردش معاملات کمتری دارد؛ احتمال پوشش دلار با تغییر تناوب تقریباً حل نمی‌شود.</a:t>
            </a:r>
          </a:p>
        </p:txBody>
      </p:sp>
    </p:spTree>
    <p:extLst>
      <p:ext uri="{BB962C8B-B14F-4D97-AF65-F5344CB8AC3E}">
        <p14:creationId xmlns:p14="http://schemas.microsoft.com/office/powerpoint/2010/main" val="214801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05A1E7-84BB-46B0-8599-212FB41D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‏سطح پارامترها | بازبینی دوهفته‌ای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74501-E1E3-49A5-A834-D5E31C83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08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‏در سبد میان‌مدت، کف ۷۰٪ و m بین ۳ تا ۵ یک ناحیه پایدار می‌سازد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708A4-0364-468E-ACAF-685DBB5C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A63BB-76C3-4BE0-906F-C3033FA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BD1CB-1809-4310-96F4-B30D752C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B4202-EE00-470D-86C7-784D8290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‏احتمال بازده واقعی منفی نسبت به دلار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A4732-2476-47DE-8631-25EEE91D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‏m = 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A8EDF-06A8-4814-A294-9203913D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‏m = 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BE03F-4E21-496E-842F-7A639126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‏m = 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09BFB-36B9-484A-A35B-1DBC65E0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‏m = 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E985A-2530-44FF-99D2-4762FF4B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‏کف ۷۰٪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388BA-B9B7-49F2-AEDE-287266C6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B0E7B-FF68-460D-B973-D0F4A6AF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‏۵۸٫۰٪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A4007-8E8A-4FBC-A2BA-2C1415D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F40F7-53FA-41B1-9355-B252136C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‏۵۰٫۰٪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F5D8E-70DA-4B6D-AE4E-68D4A8CC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C3CCB-87DD-448A-8323-D8B99BFE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‏۴۹٫۰٪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9CCEB-B18C-4AE1-8815-3C27DBC4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00300"/>
            <a:ext cx="1295400" cy="704850"/>
          </a:xfrm>
          <a:prstGeom xmlns:a="http://schemas.openxmlformats.org/drawingml/2006/main" prst="roundRect">
            <a:avLst>
              <a:gd name="adj" fmla="val 2162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2474A-58CB-4E39-A479-AB06156B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2887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C4063-B50B-4314-9B25-553373D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2887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‏۴۸٫۵٪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ADF89-B429-47D7-815F-B5417215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051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‏کف ۸۰٪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EEF387-8461-44AC-A5A7-79791E69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287E74-0D16-42CD-ABE5-27863672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‏۶۴٫۵٪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FA9FB-5624-4931-A73E-5173EC6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F247A-AC00-4DE5-91B1-DA3A4FFE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‏۵۶٫۰٪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2B3AC-57A0-418C-BAF1-A53997F1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8612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C3B84-316E-4C80-BA63-A2D376ED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861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‏۵۲٫۰٪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3319A-9BAC-49CF-919C-E65E7FD7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8612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62F8F-69F3-4F2B-B938-5B358C48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861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‏۵۰٫۵٪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4DB927-E40F-4312-802F-F72A1A4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624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‏کف ۹۰٪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FCE576-6855-44D1-986C-3BE9B89C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EFAE03-42BA-49B1-B987-3AA76E4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‏۶۸٫۵٪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A536D6-499D-476C-82AD-3FD837C7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730AB-09F9-4A73-AA55-2C0DA419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‏۶۵٫۵٪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2997B4-C284-43B1-A8A1-77CC66A5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4775B-633C-4203-B905-7C4B6DB0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‏۵۹٫۵٪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B08221-03A4-49EE-A452-3883E0DF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43375"/>
            <a:ext cx="1238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6744AE-AFD4-4E63-9794-F884661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4337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‏۵۸٫۰٪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81EE60-C13B-49AC-BEF6-A595DCC8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667125" cy="3209925"/>
          </a:xfrm>
          <a:prstGeom xmlns:a="http://schemas.openxmlformats.org/drawingml/2006/main" prst="roundRect">
            <a:avLst>
              <a:gd name="adj" fmla="val 652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14F423-C292-4E87-8D0B-30FB5E81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‏خوانش مدیریتی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1C52D7-30E8-454D-A47B-E186F038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19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4910AC-9BFE-4DB5-A748-E5B94064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2809875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‏m=۴ مرکز ناحیه پایدار است، نه برنده قطعی.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4DABFF-1EB2-475C-92B8-92BB61D2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5518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CB37F9-2ED0-4631-819D-8BE47A49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0406"/>
            <a:ext cx="2809875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‏بالابردن کف تا ۹۰٪ افت اسمی را کم می‌کند، اما پوشش دلار را بدتر می‌کند.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CDD403-BD94-4584-BF5F-90016822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90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D31606-D4D0-4E0C-8A36-E6D341D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6188"/>
            <a:ext cx="2809875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‏بهترین احتمال پوشش در این گرید هنوز حدود ۵۱٫۵٪ است.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19F46F-4F6E-4339-A3E3-FF4B043B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674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F6D939-A2C5-4A5F-9FBB-E506B8EC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1969"/>
            <a:ext cx="2809875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‏پارامتر نهایی باید با تحمل زیان کاربر تعیین شود.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EBFB99-4439-47EF-9E80-A58626A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3B8F"/>
                </a:solidFill>
                <a:latin typeface="Arial"/>
                <a:ea typeface="Arial"/>
                <a:cs typeface="Arial"/>
              </a:rPr>
              <a:t>‏خانه آبی: سیاست نماینده m=۴، کف ۷۰٪، دوهفته‌ای؛ برای مقایسه انتخاب شده است.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D2C32C-6F8C-43B2-B6C6-385F9692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8572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26E726-D8B3-4730-86F5-1641472B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578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‏«Sharpe اسمی بهتر» الزاماً «پوشش تورم بهتر» نیست؛ کف‌های محافظه‌کارانه پول را زودتر به درآمد ثابت می‌برند.</a:t>
            </a:r>
          </a:p>
        </p:txBody>
      </p:sp>
    </p:spTree>
    <p:extLst>
      <p:ext uri="{BB962C8B-B14F-4D97-AF65-F5344CB8AC3E}">
        <p14:creationId xmlns:p14="http://schemas.microsoft.com/office/powerpoint/2010/main" val="474489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DF236D-7B46-4449-97AB-ECBFE112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‏نتیجه سبد میان‌مدت | ۲۰۰ مسیر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2A5DB-5E9F-4B74-9EF4-4FA81277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728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‏VPPI افت شدید را کمی کم کرد، اما وعده ۶ماهه را تثبیت نکرد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E3A9E-71DD-457D-808A-833D143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55EFC-9618-4E46-B9EF-042A9CA2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‏۱۰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6A37B-599B-4C63-A47D-B9F2BFB2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13EB4-5D6C-41A4-98D9-3D15CADE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47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‏سیاست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2A91C-431D-46DC-8C68-9ECFA952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‏میانه بازده اسمی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31E09-DB5A-498B-B2F3-401A8AE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4478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‏احتمال عقب‌ماندن از دلار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6D1AF-2393-421D-B3B6-8DD2B377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478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‏میانگین بدترین ۵٪ افت‌ها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9A111-E0F5-42BE-B39E-94E435A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478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‏گردش معاملات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AB588-C37C-4B81-AE4B-0D9BBE5B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706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7EC63-2590-41E8-AFD9-5379A349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‏VPPI منتخب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73B28-E880-4BDB-87D0-9CC26553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‏۲۸٫۱٪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037AB-FF8A-4E03-B8A9-6EE5A212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‏میانه بازده اسمی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D2447-860E-4C6F-A0E0-CF7D7F1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52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‏۴۹٫۰٪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19646-8345-456A-8B64-0A753D09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479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‏احتمال عقب‌ماندن از دلار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4B013-66CE-482F-BD5B-180BD800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‏۱۳٫۱٪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22527-7436-4EA4-B9B5-AB8780D3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‏میانگین بدترین ۵٪ افت‌ها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61AE3-A421-4E2B-B2E1-E820A76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‏۱۸٫۳٪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A6360-892B-48A6-BDD2-791BD0B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479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‏گردش معاملات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9E77A-1F96-4EAB-8E45-FC15867A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03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‏خرید و نگهداری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3612C-E86C-4C38-81FB-70CB111A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‏۲۸٫۴٪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DF1FD-9919-474F-B4DA-AAEC856E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‏میانه بازده اسمی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0734F8-E036-4EAB-A188-F7292048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‏۴۸٫۵٪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D99E3-7CF9-4762-94DC-396AE070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956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‏احتمال عقب‌ماندن از دلار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8E49D-1A22-4279-AAC5-81BC870C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‏۱۳٫۷٪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55AF1-3655-430A-80DB-FA322108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956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‏میانگین بدترین ۵٪ افت‌ها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CF181-46CA-441D-9675-FABD09DB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‏۰٫۰٪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9C6C5F-B5DD-43A3-AD42-5AB0DF7B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956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‏گردش معاملات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8AC3F-18F5-4D3A-93EB-539E5995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48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‏ریبالانس تقویمی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82FCEA-9613-4D22-8554-A76A63AB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‏۲۹٫۱٪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521B77-E177-48B8-8434-A8998591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‏میانه بازده اسمی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8D5CC-ED9E-4B26-84A6-9B1C1B9A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481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‏۴۷٫۵٪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4BCB5-DF8C-41D4-9952-2D83913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43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‏احتمال عقب‌ماندن از دلار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C069A0-511E-4B8A-AD14-7880AAA7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481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‏۱۳٫۲٪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424B63-D408-46C4-9936-580D2C52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‏میانگین بدترین ۵٪ افت‌ها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4EDEA2-67E5-4B57-B0F7-53CC1BF0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‏۱۲٫۵٪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129D31-A8CF-40B3-B80E-7E96F01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43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‏گردش معاملات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69148-7E07-4174-8DD4-AD06E0D2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39450" cy="904875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9E1175-C783-4415-872E-27236BD5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‏حکم: احتمال زیان اسمی VPPI فقط ۱٫۵٪ است، اما احتمال عقب‌ماندن از دلار ۴۹٫۰٪؛ بنابراین «عدم زیان اسمی» تقریباً برقرار است ولی «پوشش تورم/دلار» نزدیک پرتاب سکه باقی می‌ماند.</a:t>
            </a:r>
          </a:p>
        </p:txBody>
      </p:sp>
    </p:spTree>
    <p:extLst>
      <p:ext uri="{BB962C8B-B14F-4D97-AF65-F5344CB8AC3E}">
        <p14:creationId xmlns:p14="http://schemas.microsoft.com/office/powerpoint/2010/main" val="1159642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0E0D23-D6D8-403B-882A-418CAF87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‏نتیجه نمونه بلندمدت | ۱۰۰ مسیر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D0952-6542-4D56-A350-AE43E89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726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‏در افق ۱۲ماهه، سپر دفاعی بهتر دیده می‌شود—اما سبد هنوز نقره ندارد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9A459-003F-4366-B562-E35250E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844F7-FEE2-4FB0-AE71-0751176C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‏۱۱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0A841-6D8E-4BAE-BAC5-9643A047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C9F4C-0C7A-4EC7-930B-B570D272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143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3F7F9-3619-41CC-A384-1866BC85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1666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DBBB6-2A01-40BC-BE1A-6D11BE88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28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7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‏۳۶٫۰٪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7577F-A5C5-43A6-BCBC-B00A4AF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526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‏احتمال عقب‌ماندن VPPI از دلار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14DA5-4290-463D-9E11-709913CF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2257D-7C9F-4634-8AAC-20E3C297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66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EDAAE-07A0-40FA-ABE6-66691AB5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28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‏۶٫۸٪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3227B-747F-4BD6-85C3-C82989B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526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‏میانه بازده واقعی VPPI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84F12-2C55-426E-8772-A6F7808B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3143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E4CAF-37BB-466C-8994-FE1EA22C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66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0752A-C519-4F0D-BB85-EB022F3A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28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‏۱۹٫۱٪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59A9F-82D3-4D56-8A14-5EFF088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526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‏میانگین بدترین ۵٪ افت‌های VPPI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5138D-7C9E-4227-8D08-9430B5C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810375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062FF-8D31-4F32-8F83-41738192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‏مقایسه با مبنا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37865-8638-440C-A5D9-3249A42D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‏VPPI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E393E-6F62-4DC2-98CE-7A249AE6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‏بازده واقعی ۶٫۸٪  |  احتمال زیان واقعی ۳۶٫۰٪  |  ES افت ۱۹٫۱٪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43BB9-06E7-46C2-B0CF-AD5DE6FF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005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‏خرید و نگهداری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FA1EC-FD29-4E2D-8641-FE7D38B9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‏بازده واقعی ۹٫۴٪  |  احتمال زیان واقعی ۳۲٫۰٪  |  ES افت ۲۱٫۱٪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6922D-DE0E-4DEC-98CD-7E31F088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‏ریبالانس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7981B-133C-49D5-987B-5829EEB8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‏بازده واقعی ۶٫۸٪  |  احتمال زیان واقعی ۳۵٫۰٪  |  ES افت ۲۰٫۵٪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E6593-A782-4A40-87CC-95325FAA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667125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5F2E3-1696-4DD7-B101-FE3E33A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282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‏محدودیت تصمیم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5413F-E1D8-4A31-B9B5-30A3D9C6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290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‏کانفیگ فعلی فقط درآمد ثابت، طلا و سهام دارد. تا وقتی سری تاریخی، هزینه معامله و وزن نقره اضافه نشود، این نتیجه نماینده محصول نهایی بلندمدت نیست.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8705B-4D74-4EC2-AA33-17927858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24500"/>
            <a:ext cx="8191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F9B5C-76B5-45C8-97BC-FB194927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9117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8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‏VPPI در این افق tail drawdown را نسبت به خرید و نگهداری کم کرده، اما بخشی از بازده واقعی را هم واگذار کرده است.</a:t>
            </a:r>
          </a:p>
        </p:txBody>
      </p:sp>
    </p:spTree>
    <p:extLst>
      <p:ext uri="{BB962C8B-B14F-4D97-AF65-F5344CB8AC3E}">
        <p14:creationId xmlns:p14="http://schemas.microsoft.com/office/powerpoint/2010/main" val="17196975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343624-937D-4ED6-ABC8-4D877ABE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‏ممیزی تطبیق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23D62-E579-425C-A948-B01D1098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94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‏پروژه با brief اصلی هم‌راستا است، اما هنوز «محصول نهایی» نیست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22EA0-E9BB-463E-8234-6E31D43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620E9-5B8A-42F0-98D3-A5504F69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‏۱۲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02E94-7125-4358-8707-71FAED2E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C70B4-8989-4241-BF8F-5EF8B35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394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7E1E6-2D55-403B-8754-4C8922B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954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‏وزن اولیه بدون دستکاری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A5C15-F07F-46F9-8D50-BAC7A219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52575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0D39A-1ECD-409D-BB28-0B950C18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525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‏کامل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CDA8B-B667-47F9-8CE6-578AD48F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‏وزن راهبردی تا اولین بازبینی حفظ می‌شود.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0F662-4C4E-4C68-AFCE-6938388B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394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803AF-5653-4BB6-9159-06ADFD13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‏VPPI طلا و سهام با m ثابت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E4D09-CD10-4033-B29C-6FC848D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FEA1C-EA3C-4223-B03C-52D41D4A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‏کامل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DA4D0-BFA0-4A65-B5EF-F9A5427D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‏سیاست sleeve-level با کف و m مجزا قابل اجراست.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83462-AFA7-46FD-BBC5-992BA4AF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394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71545-7E94-4B2B-A328-E8440E1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812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‏شبکه m × کف × تناوب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4C045-81CF-412E-980F-3B5D548A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BC438-2CAF-4565-B117-89787075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‏کامل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5F002-4EA6-494D-A0FB-E177716D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812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‏۳۶ سیاست برای هر سبد شبیه‌سازی شده است.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2E1D5-C7DA-4D15-9CEF-A4F96BB8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394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CBAEA-21DC-4CA3-B733-D5750F4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‏Drawdown و توزیع ZigZag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ED8A8-2440-41A1-B35C-04B84BC1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73A9F-09A9-4C61-A256-14915A36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‏کامل تشخیصی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D7681-F83C-4C50-915B-223FAB2D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242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‏از داده تاریخی آمده؛ هنوز سیگنال ورود/خروج نیست.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DB2AE-4A1D-404C-A292-248CA94A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8394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88AA8-D709-4864-B5C0-B25E6D6D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‏سنجش نسبت به دلار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DC0908-382D-4D8D-BCA0-74662B82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24275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8F8C08-C4BC-4EC4-8131-983D710D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242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‏کامل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FE1241-FB8D-47BC-BBD1-2E549F4F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‏بازده و drawdown واقعی دلاری گزارش می‌شود.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AF313-32E7-4DC2-AE2B-E133CBD6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394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7F2CE4-BA78-40BA-B631-5ED5DC16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‏VPPI مستقل بر مبنای دلار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347AC-2E17-45CB-8A8A-D74D8F9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9E291-AE64-4173-AD29-11653807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‏ناقص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82547C-DC0C-4857-BF33-2981BEEA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00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‏دلار هنوز benchmark است، نه کف اجرایی sleeve.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97C58D-B127-413D-90F4-640CA314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8394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1830EB-C641-407C-AD64-69C373C0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529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‏نقره در سبد بلندمدت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9E7438-2147-41E7-827E-B36B8DD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33EEB9-D710-432F-A1AA-63AF114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‏ناقص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9E4CA4-0BE1-4573-99BC-3CF44C7F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529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‏داده، هزینه و وزن نقره تعریف نشده است.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79C3F1-FE2C-4DDB-81D7-4F11B960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394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649263-C017-4595-B805-7AE6E57E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‏m پویا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49C32D-31AB-41E6-B54B-7852AA31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53050"/>
            <a:ext cx="1571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4805A5-699E-4B19-8E40-79713CB5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530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‏مرحله بعد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4865C3-4614-4C66-9ADE-D0E02E48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‏عمداً بعد از تثبیت مدل ثابت بهینه می‌شود.</a:t>
            </a:r>
          </a:p>
        </p:txBody>
      </p:sp>
    </p:spTree>
    <p:extLst>
      <p:ext uri="{BB962C8B-B14F-4D97-AF65-F5344CB8AC3E}">
        <p14:creationId xmlns:p14="http://schemas.microsoft.com/office/powerpoint/2010/main" val="3911453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28A7CD-977A-4D88-BC74-DB4E2A54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‏جمع‌بندی و گام بعد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CD365-A953-4D45-8286-4A641DB1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38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‏تصمیم پیشنهادی: نسخه دفاعی را تأیید کنیم؛ وعده محصول را هنوز تأیید نکنیم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A380D-E7DE-4531-B89F-12195D5E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632F7-A99A-47E8-A58E-A4287786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‏۱۳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F3077-56DF-4298-B2CF-7EE84003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315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‏سیستم بیمه ریسک پورتفو | خروجی مدیریتی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C530A-92CD-4669-A973-79B94DAD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71625"/>
            <a:ext cx="52197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DA2C4-56E1-423B-923E-C9D2C366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2197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EC03D-59D7-4217-AF56-A39AE1EF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5717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3F7FD-4D06-4552-86D9-655AD47D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‏تأیید برای نسخه 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F3AF9-E732-4AB6-9A23-F4EE839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09750"/>
            <a:ext cx="3143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1A96F-75D8-4B26-81AF-A882591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0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‏پیش از عرضه باید بسته شود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C1DE9-C0CE-41E0-B841-96EE1933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E99AC-ACFF-491F-9BEE-02778CC0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4048125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‏وزن‌های راهبردی همان درصدهای منتخب کاربر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30220-745F-4EF0-9372-DAFA5A41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9324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F9D65-EBD2-459A-A54B-DD042160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88469"/>
            <a:ext cx="4048125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‏VPPI با m ثابت و کف ۷۰٪ به‌عنوان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9C407-37AF-4B0E-8E8E-692D64C8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528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88E13-5958-4F85-BF40-F77DBD37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8063"/>
            <a:ext cx="4048125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‏بازبینی دوهفته‌ای + باند انحراف ۵٪ برای ریبالانس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32A92-A1E4-47B4-BB27-7536E80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1243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697C4-D9C9-4282-AC02-C424E1A2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7656"/>
            <a:ext cx="4048125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‏گزارش هم‌زمان اسمی، دلاری، drawdown و turnover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3557A-8E10-4FAD-9F99-6DC12F7C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F45D3-3DF2-4045-B077-5B107B7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4000500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‏تعریف رسمی تحمل زیان و احتمال شکست وعده هر محصول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9CDF6-43EE-447A-81A6-BC3E4124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9324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2851D-445F-4F33-9553-87AB8DB9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8469"/>
            <a:ext cx="4000500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‏بازطراحی تخصیص میان‌مدت برای پوشش دلار/تورم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7FA58-E476-4231-81A8-61C98587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28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AC73EB-1A07-47D1-BF31-B693ED4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8063"/>
            <a:ext cx="4000500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‏افزودن نقره به داده، هزینه و وزن سبد بلندمدت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D8B23-9B35-47CF-8AF6-C1FEA198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243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276FAB-CC26-49C3-B6E4-71EE8568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07656"/>
            <a:ext cx="4000500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‏سپس آزمون m پویا و VPPI مستقل دلاری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4513A6-9B87-4979-8DE1-4150CDB8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2BF96-B705-4CCA-8A09-608D9DA3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05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53B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B8F"/>
                </a:solidFill>
                <a:latin typeface="Arial"/>
                <a:ea typeface="Arial"/>
                <a:cs typeface="Arial"/>
              </a:rPr>
              <a:t>‏نتیجه نهایی: مشکل اصلی عملکرد، «بدبودن VPPI» نیست؛ تضاد بین وعده پوشش تورم و ترکیب دارایی/کف دفاعی است. اول بودجه ریسک و تخصیص را حل می‌کنیم، بعد m را پویا می‌کنیم.</a:t>
            </a:r>
          </a:p>
        </p:txBody>
      </p:sp>
    </p:spTree>
    <p:extLst>
      <p:ext uri="{BB962C8B-B14F-4D97-AF65-F5344CB8AC3E}">
        <p14:creationId xmlns:p14="http://schemas.microsoft.com/office/powerpoint/2010/main" val="845763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2026-08-25T12:54:30.6990000Z</dcterms:created>
  <dcterms:modified xsi:type="dcterms:W3CDTF">2026-08-25T12:54:30.6990000Z</dcterms:modified>
</coreProperties>
</file>